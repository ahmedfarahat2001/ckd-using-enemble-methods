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3E50"/>
                </a:solidFill>
                <a:latin typeface="Arial"/>
              </a:rPr>
              <a:t>Missing Data Rate per Feature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Missing</c:v>
                </c:pt>
              </c:strCache>
            </c:strRef>
          </c:tx>
          <c:spPr>
            <a:solidFill>
              <a:srgbClr val="A932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32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500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820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820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4F8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4F8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8C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rbc</c:v>
                  </c:pt>
                  <c:pt idx="1">
                    <c:v>rc</c:v>
                  </c:pt>
                  <c:pt idx="2">
                    <c:v>wc</c:v>
                  </c:pt>
                  <c:pt idx="3">
                    <c:v>pot</c:v>
                  </c:pt>
                  <c:pt idx="4">
                    <c:v>sod</c:v>
                  </c:pt>
                  <c:pt idx="5">
                    <c:v>pcv</c:v>
                  </c:pt>
                  <c:pt idx="6">
                    <c:v>hemo</c:v>
                  </c:pt>
                  <c:pt idx="7">
                    <c:v>sg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</c:v>
                </c:pt>
                <c:pt idx="1">
                  <c:v>32.5</c:v>
                </c:pt>
                <c:pt idx="2">
                  <c:v>26.3</c:v>
                </c:pt>
                <c:pt idx="3">
                  <c:v>22</c:v>
                </c:pt>
                <c:pt idx="4">
                  <c:v>21.8</c:v>
                </c:pt>
                <c:pt idx="5">
                  <c:v>17.5</c:v>
                </c:pt>
                <c:pt idx="6">
                  <c:v>13</c:v>
                </c:pt>
                <c:pt idx="7">
                  <c:v>11.8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8CC"/>
          </a:solidFill>
          <a:ln w="12700">
            <a:solidFill>
              <a:srgbClr val="2E7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7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IMADS — INTELLIGENT MEDICAL ANALYSIS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7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Dataset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114800" cy="36576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688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3 Technical Briefing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Brief · Medical Context · Modeling Guidance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solidFill>
            <a:srgbClr val="3A1A0A"/>
          </a:solidFill>
          <a:ln w="19050">
            <a:solidFill>
              <a:srgbClr val="D48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461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Smallest dataset: Only 400 samples. Every modeling decision matters more 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1920240" cy="1005840"/>
          </a:xfrm>
          <a:prstGeom prst="rect">
            <a:avLst/>
          </a:prstGeom>
          <a:solidFill>
            <a:srgbClr val="1A2640"/>
          </a:solidFill>
          <a:ln w="19050">
            <a:solidFill>
              <a:srgbClr val="2E7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8953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822192"/>
            <a:ext cx="1920240" cy="1005840"/>
          </a:xfrm>
          <a:prstGeom prst="rect">
            <a:avLst/>
          </a:prstGeom>
          <a:solidFill>
            <a:srgbClr val="1A2640"/>
          </a:solidFill>
          <a:ln w="19050">
            <a:solidFill>
              <a:srgbClr val="2E7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38953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1460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822192"/>
            <a:ext cx="1920240" cy="1005840"/>
          </a:xfrm>
          <a:prstGeom prst="rect">
            <a:avLst/>
          </a:prstGeom>
          <a:solidFill>
            <a:srgbClr val="1A2640"/>
          </a:solidFill>
          <a:ln w="19050">
            <a:solidFill>
              <a:srgbClr val="2E7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38953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6344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3822192"/>
            <a:ext cx="1920240" cy="1005840"/>
          </a:xfrm>
          <a:prstGeom prst="rect">
            <a:avLst/>
          </a:prstGeom>
          <a:solidFill>
            <a:srgbClr val="1A2640"/>
          </a:solidFill>
          <a:ln w="19050">
            <a:solidFill>
              <a:srgbClr val="2E7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38953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(max)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4754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IMADS · CKD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44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— This Is Critical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8412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missing data is clinically meaningful here: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CKD, sicker patients often cannot tolerate certain tests (too weak, unstable kidneys). The fact that rbc and rc are missing in 38% of cases is NOT random — it is likely associated with disease severity. Missing = signal, not noise.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572768"/>
          <a:ext cx="47548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257800" y="1572768"/>
            <a:ext cx="3611880" cy="1261872"/>
          </a:xfrm>
          <a:prstGeom prst="rect">
            <a:avLst/>
          </a:prstGeom>
          <a:solidFill>
            <a:srgbClr val="FDECEA"/>
          </a:solidFill>
          <a:ln w="19050">
            <a:solidFill>
              <a:srgbClr val="A932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82496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79008" y="16459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drop rows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394960" y="204825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400 samples, dropping rows with missing data could remove 30–40% of your dataset. You'll have nothing left to train on.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257800" y="2944368"/>
            <a:ext cx="3611880" cy="1261872"/>
          </a:xfrm>
          <a:prstGeom prst="rect">
            <a:avLst/>
          </a:prstGeom>
          <a:solidFill>
            <a:srgbClr val="FEF5EC"/>
          </a:solidFill>
          <a:ln w="19050">
            <a:solidFill>
              <a:srgbClr val="D482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063240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79008" y="30175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missing indicators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394960" y="343814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feature with &gt;10% missing: create a binary column (1 = value was missing). Then impute. The missingness itself is a predictor.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7432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IMADS · CKD Dataset · Engineer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Axis — Creatinine Dominance &amp; Leakage Risk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49808"/>
          </a:xfrm>
          <a:prstGeom prst="rect">
            <a:avLst/>
          </a:prstGeom>
          <a:solidFill>
            <a:srgbClr val="E8EEF8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creatinine measures: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is a waste product the kidneys filter out. Healthy kidneys keep it low. Failing kidneys let it accumulate. It is the most direct measurable signal of kidney function — so direct that it likely determines the CKD label itself.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023360" cy="1417320"/>
          </a:xfrm>
          <a:prstGeom prst="rect">
            <a:avLst/>
          </a:prstGeom>
          <a:solidFill>
            <a:srgbClr val="FDECEA"/>
          </a:solidFill>
          <a:ln w="25400">
            <a:solidFill>
              <a:srgbClr val="A932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4023360" cy="9144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28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Patients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1762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7614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 creatinine (mean)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4297680" cy="1417320"/>
          </a:xfrm>
          <a:prstGeom prst="rect">
            <a:avLst/>
          </a:prstGeom>
          <a:solidFill>
            <a:srgbClr val="E8F5EE"/>
          </a:solidFill>
          <a:ln w="254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691640"/>
            <a:ext cx="4297680" cy="91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288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Non-CKD Patients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17627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572000" y="27614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 creatinine (mean)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55264"/>
            <a:ext cx="8595360" cy="896112"/>
          </a:xfrm>
          <a:prstGeom prst="rect">
            <a:avLst/>
          </a:prstGeom>
          <a:solidFill>
            <a:srgbClr val="FDECEA"/>
          </a:solidFill>
          <a:ln w="25400">
            <a:solidFill>
              <a:srgbClr val="A9322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01568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41248" y="3291840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label contamination — not just leakage: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CKD label was assigned using a creatinine threshold (e.g., &gt; 1.2 mg/dL = CKD), then creatinine is not a feature — it IS the label. A model using creatinine would get near-perfect accuracy for the wrong reason. You must verify how labels were assigned with the data source.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solidFill>
            <a:srgbClr val="E8EEF8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2793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strategy: </a:t>
            </a:r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 models: (1) All features · (2) Without creatinine · (3) Without creatinine &amp; urea. Compare performance drop to assess real feature value.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IMADS · CKD Dataset · Engineer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Hematologic Effect &amp; Protein Damage Axis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2926080"/>
          </a:xfrm>
          <a:prstGeom prst="rect">
            <a:avLst/>
          </a:prstGeom>
          <a:solidFill>
            <a:srgbClr val="E8EEF8"/>
          </a:solidFill>
          <a:ln w="19050">
            <a:solidFill>
              <a:srgbClr val="1A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Hematologic Effect (Anaemia)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16736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CKD causes anaemia: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kidneys produce EPO (erythropoietin), a hormone that tells the bone marrow to make red blood cells. Failing kidneys make less EPO → fewer RBCs made → anaemia.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1691640" cy="1234440"/>
          </a:xfrm>
          <a:prstGeom prst="rect">
            <a:avLst/>
          </a:prstGeom>
          <a:solidFill>
            <a:srgbClr val="FDECEA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31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 Hb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2267712"/>
            <a:ext cx="1783080" cy="12344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331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Non-CKD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5786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23160" y="3017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 Hb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804672"/>
            <a:ext cx="4251960" cy="2926080"/>
          </a:xfrm>
          <a:prstGeom prst="rect">
            <a:avLst/>
          </a:prstGeom>
          <a:solidFill>
            <a:srgbClr val="F3EEF9"/>
          </a:solidFill>
          <a:ln w="19050">
            <a:solidFill>
              <a:srgbClr val="5B2D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8686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Damage (Proteinuria)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316736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proteinuria means: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kidneys keep proteins in the blood. Damaged kidney filters (glomeruli) leak proteins into urine — like a broken sieve. The albumin level in urine (al feature, scored 0–5) is the damage severity indicator.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 of patients: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633472"/>
            <a:ext cx="1920240" cy="1024128"/>
          </a:xfrm>
          <a:prstGeom prst="rect">
            <a:avLst/>
          </a:prstGeom>
          <a:solidFill>
            <a:srgbClr val="FEF5EC"/>
          </a:solidFill>
          <a:ln w="15240">
            <a:solidFill>
              <a:srgbClr val="D48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7919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proteinuria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 = 3–4)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633472"/>
            <a:ext cx="1920240" cy="1024128"/>
          </a:xfrm>
          <a:prstGeom prst="rect">
            <a:avLst/>
          </a:prstGeom>
          <a:solidFill>
            <a:srgbClr val="FDECEA"/>
          </a:solidFill>
          <a:ln w="15240">
            <a:solidFill>
              <a:srgbClr val="A932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67919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proteinuria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 = 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58768"/>
            <a:ext cx="8595360" cy="640080"/>
          </a:xfrm>
          <a:prstGeom prst="rect">
            <a:avLst/>
          </a:prstGeom>
          <a:solidFill>
            <a:srgbClr val="E8F5EE"/>
          </a:solidFill>
          <a:ln w="19050">
            <a:solidFill>
              <a:srgbClr val="1A7A4A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986784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77240" y="3895344"/>
            <a:ext cx="8001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coherent: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4.5 g/dL difference in haemoglobin between CKD and non-CKD patients is physiologically expected (EPO deficiency). The glomerular damage spectrum (0–5 proteinuria scale) tracks with real CKD staging. Dataset reflects genuine clinical data.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IMADS · CKD Dataset · Engineer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Risks &amp; Your Action Plan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795528"/>
          </a:xfrm>
          <a:prstGeom prst="rect">
            <a:avLst/>
          </a:prstGeom>
          <a:solidFill>
            <a:srgbClr val="1A1A2A"/>
          </a:solidFill>
          <a:ln w="12700">
            <a:solidFill>
              <a:srgbClr val="FF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795528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43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400 samples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361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dataset in the project. Overfitting is your biggest enemy. Every split, every fold matters.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75688"/>
            <a:ext cx="4023360" cy="795528"/>
          </a:xfrm>
          <a:prstGeom prst="rect">
            <a:avLst/>
          </a:prstGeom>
          <a:solidFill>
            <a:srgbClr val="1A1A2A"/>
          </a:solidFill>
          <a:ln w="12700">
            <a:solidFill>
              <a:srgbClr val="FF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75688"/>
            <a:ext cx="64008" cy="795528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30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&amp; non-random missingness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4231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38% missing in rbc/rc. Missingness correlates with CKD severity — it's a feature, not noise.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62656"/>
            <a:ext cx="4023360" cy="795528"/>
          </a:xfrm>
          <a:prstGeom prst="rect">
            <a:avLst/>
          </a:prstGeom>
          <a:solidFill>
            <a:srgbClr val="1A1A2A"/>
          </a:solidFill>
          <a:ln w="12700">
            <a:solidFill>
              <a:srgbClr val="FF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62656"/>
            <a:ext cx="64008" cy="795528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dominance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3101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mean = 4.43 vs 0.87 for non-CKD. May be label contamination if labels were assigned by creatinine threshold.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849624"/>
            <a:ext cx="4023360" cy="795528"/>
          </a:xfrm>
          <a:prstGeom prst="rect">
            <a:avLst/>
          </a:prstGeom>
          <a:solidFill>
            <a:srgbClr val="1A1A2A"/>
          </a:solidFill>
          <a:ln w="12700">
            <a:solidFill>
              <a:srgbClr val="FF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49624"/>
            <a:ext cx="64008" cy="795528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04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artefacts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419709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"dm" column contains "\tyes", "\tno" (tab characters). Target column has "ckd\t". Must clean before any processing.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ED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4206240" cy="795528"/>
          </a:xfrm>
          <a:prstGeom prst="rect">
            <a:avLst/>
          </a:prstGeom>
          <a:solidFill>
            <a:srgbClr val="111E11"/>
          </a:solidFill>
          <a:ln w="12700">
            <a:solidFill>
              <a:srgbClr val="7ED9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88720"/>
            <a:ext cx="64008" cy="795528"/>
          </a:xfrm>
          <a:prstGeom prst="rect">
            <a:avLst/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243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stratified k-fold (k=5)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53619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400 samples, a single train/test split is unreliable. Stratified k-fold ensures each fold has ~62% CKD. Never random split.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075688"/>
            <a:ext cx="4206240" cy="795528"/>
          </a:xfrm>
          <a:prstGeom prst="rect">
            <a:avLst/>
          </a:prstGeom>
          <a:solidFill>
            <a:srgbClr val="111E11"/>
          </a:solidFill>
          <a:ln w="12700">
            <a:solidFill>
              <a:srgbClr val="7ED9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075688"/>
            <a:ext cx="64008" cy="795528"/>
          </a:xfrm>
          <a:prstGeom prst="rect">
            <a:avLst/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130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missing indicator features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24231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rbc, rc, wc, pot, sod: create binary flag columns (was_missing=1). Then impute median for remaining NaN values.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962656"/>
            <a:ext cx="4206240" cy="795528"/>
          </a:xfrm>
          <a:prstGeom prst="rect">
            <a:avLst/>
          </a:prstGeom>
          <a:solidFill>
            <a:srgbClr val="111E11"/>
          </a:solidFill>
          <a:ln w="12700">
            <a:solidFill>
              <a:srgbClr val="7ED9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962656"/>
            <a:ext cx="64008" cy="795528"/>
          </a:xfrm>
          <a:prstGeom prst="rect">
            <a:avLst/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 model versions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33101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· No creatinine · No creatinine &amp; urea. Compare AUC. If drops &lt; 5%, creatinine is redundant, not informative.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849624"/>
            <a:ext cx="4206240" cy="795528"/>
          </a:xfrm>
          <a:prstGeom prst="rect">
            <a:avLst/>
          </a:prstGeom>
          <a:solidFill>
            <a:srgbClr val="111E11"/>
          </a:solidFill>
          <a:ln w="12700">
            <a:solidFill>
              <a:srgbClr val="7ED9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849624"/>
            <a:ext cx="64008" cy="795528"/>
          </a:xfrm>
          <a:prstGeom prst="rect">
            <a:avLst/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9044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labels first, everything else second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28032" y="419709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whitespace from all strings. Fix "ckd\t" → "ckd". Do this BEFORE any analysis or EDA.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IMADS · CKD Dataset · Engineer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CKD Dataset — Engineer 3 Briefing</dc:title>
  <dc:subject>PptxGenJS Presentation</dc:subject>
  <dc:creator>PptxGenJS</dc:creator>
  <cp:lastModifiedBy>PptxGenJS</cp:lastModifiedBy>
  <cp:revision>1</cp:revision>
  <dcterms:created xsi:type="dcterms:W3CDTF">2026-03-01T18:54:43Z</dcterms:created>
  <dcterms:modified xsi:type="dcterms:W3CDTF">2026-03-01T18:54:43Z</dcterms:modified>
</cp:coreProperties>
</file>